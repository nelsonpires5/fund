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4C8DC"/>
                </a:solidFill>
                <a:latin typeface="Calibri"/>
              </a:defRPr>
            </a:pPr>
            <a:r>
              <a:t>MICRON TECHNOLOGY, INC. (MU)</a:t>
            </a:r>
          </a:p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Initiating Coverage Presentation</a:t>
            </a:r>
          </a:p>
          <a:p>
            <a:pPr>
              <a:defRPr sz="1800">
                <a:solidFill>
                  <a:srgbClr val="DCDCDC"/>
                </a:solidFill>
                <a:latin typeface="Calibri"/>
              </a:defRPr>
            </a:pPr>
            <a:r>
              <a:t>Recommendation: HOLD  |  Current Price: $751.00  |  Price Target: $650.00</a:t>
            </a:r>
          </a:p>
          <a:p>
            <a:pPr>
              <a:defRPr sz="1200" i="1">
                <a:solidFill>
                  <a:srgbClr val="96AABE"/>
                </a:solidFill>
                <a:latin typeface="Calibri"/>
              </a:defRPr>
            </a:pPr>
            <a:r>
              <a:t>Prepared for the Investment Committee  •  May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4C8DC"/>
                </a:solidFill>
                <a:latin typeface="Calibri"/>
              </a:defRPr>
            </a:pPr>
            <a:r>
              <a:t>MICRON TECHNOLOGY (MU)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Executive Summary: Hold on Extended Peak Cycle 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120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97D"/>
                </a:solidFill>
                <a:latin typeface="Calibri"/>
              </a:defRPr>
            </a:pPr>
            <a:r>
              <a:t>Investment Recommendation: HOLD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Valuation Fully Values the Peak: At $751.00, Micron is pricing in a structural supercycle, trading at 12.9x FY26E EPS and 7.7x EV/Sales—representing a major premium to direct memory peers.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Oligopolistic Memory Structure: Sourced from model.xlsx [Income Statement], Micron's revenue scales from $37.4B (FY25) to $109.7B (FY26E) and $172.8B (FY27E). Peak cycle EBIT margins reach 79.7% in FY27E.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Price Target of $650.00: Calculated in valuation_framework.md, our target WACC of 9.5% and terminal growth of 3.0% implies a fair value of $650.00 (-13.4% downside risk from current peak pricing).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97D"/>
                </a:solidFill>
                <a:latin typeface="Calibri"/>
              </a:defRPr>
            </a:pPr>
            <a:r>
              <a:t>Key Investment Debates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Cycle vs. Structural Shift: The market expects high-margin HBM demand to permanently raise the memory pricing floor. However, memory cycles have historically normalized once capacity ramps up.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Samsung Qualification Threat: Samsung’s qualification delays with NVIDIA have sheltered Micron’s market share. A qualification by Samsung would immediately dilute industry pricing power.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Capital Allocation Volatility: Sourced from model.xlsx [Cash Flow], Micron's CapEx spikes to $25.0bn (FY26E) and $28.0bn (FY27E), consuming significant operating cash during node expansion.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4C8DC"/>
                </a:solidFill>
                <a:latin typeface="Calibri"/>
              </a:defRPr>
            </a:pPr>
            <a:r>
              <a:t>MICRON TECHNOLOGY (MU)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HBM Leadership: Micron's Core Growth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120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97D"/>
                </a:solidFill>
                <a:latin typeface="Calibri"/>
              </a:defRPr>
            </a:pPr>
            <a:r>
              <a:t>HBM Technology &amp; Customer Integration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Power Efficiency Leadership: Micron's HBM3E has demonstrated a 20% power advantage over competitors. In power-constrained AI data centers, this is a critical differentiator.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NVIDIA Design Wins: Micron is qualified on NVIDIA’s H200 and Blackwell platforms. Volume HBM4 shipments are initiated for NVIDIA's Rubin architecture.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Capacity Backlog: 100% of Micron's HBM output is sold out through calendar 2024 and 2025, providing strong short-term revenue visibility.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97D"/>
                </a:solidFill>
                <a:latin typeface="Calibri"/>
              </a:defRPr>
            </a:pPr>
            <a:r>
              <a:t>DRAM Segment Revenue Scaling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HBM Growth Curve: Sourced from model.xlsx [Revenue Model], HBM revenue scales from $3.0B in FY25 to $18.0B in FY26E and $32.0B in FY27E.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Premium Product Mix: HBM increases from 8.0% of total revenue in FY25 to 18.5% in FY27E, driving significant corporate margin expansion.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Commodity DRAM Tightness: WAFER allocations to HBM reduce available capacity for standard client DDR5 and LPDDR5X, raising prices across PC and mobile segments.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4C8DC"/>
                </a:solidFill>
                <a:latin typeface="Calibri"/>
              </a:defRPr>
            </a:pPr>
            <a:r>
              <a:t>MICRON TECHNOLOGY (MU)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Industry Dynamics: The Wafer Stacking Supply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120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97D"/>
                </a:solidFill>
                <a:latin typeface="Calibri"/>
              </a:defRPr>
            </a:pPr>
            <a:r>
              <a:t>The HBM Wafer Penalty Factor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3:1 Wafer Stacking Ratio: Producing 1GB of HBM requires 3x the wafer starts of standard DDR5. This is due to TSV layout overhead, larger die sizes, and packaging yields.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DRAM Supply Compression: Because all three major producers (Samsung, SK Hynix, Micron) are converting capacity to HBM, global commodity DRAM supply growth is restricted to low-double digits.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Tightness through CY2026: Constrained industry supply keeps DRAM pricing elevated, protecting Micron's high ASP profile beyond the near-term cycle peak.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97D"/>
                </a:solidFill>
                <a:latin typeface="Calibri"/>
              </a:defRPr>
            </a:pPr>
            <a:r>
              <a:t>Competitive Landscape &amp; Market Share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Oligopolistic Pricing Power: Memory remains a three-player game. SK Hynix currently holds ~62% HBM market share, with Micron targeting ~20% as Blackwell/Rubin ramps.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Samsung's Qualification Delays: Samsung has faced obstacles qualifying HBM3E with NVIDIA. This delay has extended the pricing window and profit margins for Micron and SK Hynix.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HBM4 Transition Node: Micron's early HBM4 shipments on NVIDIA's Vera Rubin platform position it to maintain Node parity with SK Hynix.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4C8DC"/>
                </a:solidFill>
                <a:latin typeface="Calibri"/>
              </a:defRPr>
            </a:pPr>
            <a:r>
              <a:t>MICRON TECHNOLOGY (MU)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Financial Performance: Cyclical Peak Revenues &amp; Margins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 ($ Millions)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22A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23A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24A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25A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26E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 27E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Total Revenues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30,758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15,540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25,111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37,380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109,700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172,760</a:t>
                      </a:r>
                    </a:p>
                  </a:txBody>
                  <a:tcPr marL="54864" marR="54864" marT="36576" marB="36576"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YoY Revenue Growth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11.0%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-49.5%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61.6%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48.9%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193.5%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57.5%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Gross Profit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13,892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415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5,612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14,874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84,310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137,740</a:t>
                      </a:r>
                    </a:p>
                  </a:txBody>
                  <a:tcPr marL="54864" marR="54864" marT="36576" marB="36576"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Gross Margin 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45.2%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2.7%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22.4%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39.8%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76.9%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79.7%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EBITDA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16,737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4,096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9,002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18,092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89,410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149,340</a:t>
                      </a:r>
                    </a:p>
                  </a:txBody>
                  <a:tcPr marL="54864" marR="54864" marT="36576" marB="36576"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Operating Income (EBIT)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9,707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-3,574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1,306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9,809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77,340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137,740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Diluted EPS ($)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$7.75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($5.18)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$0.70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$7.59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$58.29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$102.74</a:t>
                      </a:r>
                    </a:p>
                  </a:txBody>
                  <a:tcPr marL="54864" marR="54864" marT="36576" marB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82828"/>
                </a:solidFill>
                <a:latin typeface="Calibri"/>
              </a:defRPr>
            </a:pPr>
            <a:r>
              <a:t>Source: model.xlsx [Income Statement]. FY 22-25 are actual audited financials; FY 26-27 are consensus projection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4C8DC"/>
                </a:solidFill>
                <a:latin typeface="Calibri"/>
              </a:defRPr>
            </a:pPr>
            <a:r>
              <a:t>MICRON TECHNOLOGY (MU)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Trading Multiples: Micron Sells at an AI Premium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Company Name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Cap ($B)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EV/Sales (FY26E)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EV/EBITDA (FY26E)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P/E (FY26E)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P/E (FY27E)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HBM Status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Micron Technology (MU)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846.9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7.7x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9.4x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12.9x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7.3x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Qualified HBM3E / Shipping HBM4</a:t>
                      </a:r>
                    </a:p>
                  </a:txBody>
                  <a:tcPr marL="54864" marR="54864" marT="36576" marB="36576"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SK Hynix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104.2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3.2x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5.2x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8.5x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6.0x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HBM Market Leader (62% share)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Samsung Electronics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362.5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2.1x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4.8x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10.5x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8.2x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HBM3E Qualification Delayed</a:t>
                      </a:r>
                    </a:p>
                  </a:txBody>
                  <a:tcPr marL="54864" marR="54864" marT="36576" marB="36576"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NVIDIA Corp. (NVDA)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3,120.0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18.5x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24.2x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28.0x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22.0x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Primary GPU Buyer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Advanced Micro Devices (AMD)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255.4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8.2x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19.5x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26.0x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18.5x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GPU Buyer / Stacking Peer</a:t>
                      </a:r>
                    </a:p>
                  </a:txBody>
                  <a:tcPr marL="54864" marR="54864" marT="36576" marB="36576"/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Taiwan Semiconductor (TSM)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785.0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9.4x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15.2x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20.0x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16.0x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Foundry Partner</a:t>
                      </a:r>
                    </a:p>
                  </a:txBody>
                  <a:tcPr marL="54864" marR="54864" marT="36576" marB="36576"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Memory Peer Median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104.2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2.65x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5.0x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9.5x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Calibri"/>
                        </a:defRPr>
                      </a:pPr>
                      <a:r>
                        <a:t>7.1x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Memory Sector Benchmarks</a:t>
                      </a:r>
                    </a:p>
                  </a:txBody>
                  <a:tcPr marL="54864" marR="54864" marT="36576" marB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82828"/>
                </a:solidFill>
                <a:latin typeface="Calibri"/>
              </a:defRPr>
            </a:pPr>
            <a:r>
              <a:t>Source: valuation_framework.md. Multiples calculated at current stock price of $751.00 for MU. Micron trades at an AI premium.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4C8DC"/>
                </a:solidFill>
                <a:latin typeface="Calibri"/>
              </a:defRPr>
            </a:pPr>
            <a:r>
              <a:t>MICRON TECHNOLOGY (MU)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DCF Valuation: Structural HBM Framework &amp; Sensitivities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120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97D"/>
                </a:solidFill>
                <a:latin typeface="Calibri"/>
              </a:defRPr>
            </a:pPr>
            <a:r>
              <a:t>DCF Target Case Valuation ($ Millions)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PV of 5-Year Projections (FY26-30): $238,958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PV of Terminal Value (9.5% WACC / 3.0% g): $416,241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Implied Enterprise Value (EV): $655,199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Plus Net Cash Adjustment: $3,790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Implied Equity Value: $658,989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Diluted Shares Outstanding: 1,130 million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Implied Target Price (Rounded): $650.00</a:t>
            </a:r>
          </a:p>
          <a:p>
            <a:pPr>
              <a:spcAft>
                <a:spcPts val="600"/>
              </a:spcAft>
              <a:defRPr sz="1200">
                <a:latin typeface="Calibri"/>
              </a:defRPr>
            </a:pPr>
            <a:r>
              <a:t>Current Stock Price / Implied Return: $751.00 / -13.4%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F497D"/>
                </a:solidFill>
                <a:latin typeface="Calibri"/>
              </a:defRPr>
            </a:pPr>
            <a:r>
              <a:t>Sensitivity: WACC vs. Terminal Growth (g)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011680"/>
          <a:ext cx="5120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WACC \ g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2.0% g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3.0% g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3.5% g</a:t>
                      </a:r>
                    </a:p>
                  </a:txBody>
                  <a:tcPr marL="54864" marR="54864" marT="36576" marB="36576">
                    <a:solidFill>
                      <a:srgbClr val="1F497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8.5%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$643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$755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$836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9.5%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$514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70C0"/>
                          </a:solidFill>
                          <a:latin typeface="Calibri"/>
                        </a:defRPr>
                      </a:pPr>
                      <a:r>
                        <a:t>$583</a:t>
                      </a:r>
                    </a:p>
                  </a:txBody>
                  <a:tcPr marL="54864" marR="54864" marT="36576" marB="3657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$630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10.5%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$424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$471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$501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11.5%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$358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$391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$411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4C8DC"/>
                </a:solidFill>
                <a:latin typeface="Calibri"/>
              </a:defRPr>
            </a:pPr>
            <a:r>
              <a:t>MICRON TECHNOLOGY (MU)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Investment Risks: Invalidation Signals for the 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120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97D"/>
                </a:solidFill>
                <a:latin typeface="Calibri"/>
              </a:defRPr>
            </a:pPr>
            <a:r>
              <a:t>Key Downside Risks &amp; Monitoring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Competitor Capacity Additions: Samsung and SK Hynix CapEx expansion may outpace demand by CY2027/28, triggering oversupply.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Samsung Blackwell Approval: Watch for Samsung HBM3E qualification milestones with NVIDIA, which would dilute Micron's allocation.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Hyperscaler Budget Shifting: Hyperscaler data center CapEx optimization or shift from hardware to software layer could depress memory volumes.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0F0F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97D"/>
                </a:solidFill>
                <a:latin typeface="Calibri"/>
              </a:defRPr>
            </a:pPr>
            <a:r>
              <a:t>Thesis Invalidation Triggers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DRAM ASP Decline: Commodity DRAM prices contract &gt;15% in a single quarter before CY2027, signaling early oversupply.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Gross Margin Contraction: Blended corporate gross margin falls below 50.0% structurally during the Blackwell cycle.</a:t>
            </a:r>
          </a:p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HBM Shipments Delay: Production or yield delays at Micron's advanced packaging lines, reducing HBM revenues below model consensus.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