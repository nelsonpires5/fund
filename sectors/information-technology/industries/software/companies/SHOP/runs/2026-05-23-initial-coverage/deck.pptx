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5943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Shopify Inc. (SHOP)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0">
                <a:solidFill>
                  <a:srgbClr val="FFFFFF"/>
                </a:solidFill>
              </a:rPr>
              <a:t>Investment Committee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987552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Neutral / Accumulate on pullbacks — exceptional company, valuation still requires proof that 20%+ growth and margin expansion persist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2011680" cy="1051560"/>
          </a:xfrm>
          <a:prstGeom prst="roundRect">
            <a:avLst/>
          </a:prstGeom>
          <a:solidFill>
            <a:srgbClr val="E6EE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999232"/>
            <a:ext cx="186537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Reference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246120"/>
            <a:ext cx="186537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$103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639312"/>
            <a:ext cx="1865376" cy="301751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Koyfin /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26080"/>
            <a:ext cx="2011680" cy="1051560"/>
          </a:xfrm>
          <a:prstGeom prst="roundRect">
            <a:avLst/>
          </a:prstGeom>
          <a:solidFill>
            <a:srgbClr val="E6EE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999232"/>
            <a:ext cx="186537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Model DCF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246120"/>
            <a:ext cx="186537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$96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639312"/>
            <a:ext cx="1865376" cy="301751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model.xlsx DCF!B107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926080"/>
            <a:ext cx="2011680" cy="1051560"/>
          </a:xfrm>
          <a:prstGeom prst="roundRect">
            <a:avLst/>
          </a:prstGeom>
          <a:solidFill>
            <a:srgbClr val="E6EE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999232"/>
            <a:ext cx="186537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Implied downside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3246120"/>
            <a:ext cx="186537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-6.5%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3639312"/>
            <a:ext cx="1865376" cy="301751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model.xlsx DCF!B109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926080"/>
            <a:ext cx="2011680" cy="1051560"/>
          </a:xfrm>
          <a:prstGeom prst="roundRect">
            <a:avLst/>
          </a:prstGeom>
          <a:solidFill>
            <a:srgbClr val="E6EE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999232"/>
            <a:ext cx="186537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Market cap / 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3246120"/>
            <a:ext cx="186537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$134B / $128B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639312"/>
            <a:ext cx="1865376" cy="301751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Koyfin /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17920"/>
            <a:ext cx="10515600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Prepared from SHOP initial coverage report, thesis tracker and DCF model |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IC recommendation: own the work, wait for either a better entry or proof of reacceleration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286000" cy="1005840"/>
          </a:xfrm>
          <a:prstGeom prst="roundRect">
            <a:avLst/>
          </a:prstGeom>
          <a:solidFill>
            <a:srgbClr val="E6EE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24712"/>
            <a:ext cx="213969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71600"/>
            <a:ext cx="213969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Neutral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64792"/>
            <a:ext cx="2139696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Accumulate on pullbacks below ~$90 or after proof high-20s growth is a floor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051560"/>
            <a:ext cx="2286000" cy="1005840"/>
          </a:xfrm>
          <a:prstGeom prst="roundRect">
            <a:avLst/>
          </a:prstGeom>
          <a:solidFill>
            <a:srgbClr val="E6EE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124712"/>
            <a:ext cx="213969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Base DCF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371600"/>
            <a:ext cx="213969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~$96/share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1764792"/>
            <a:ext cx="2139696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9.5% WACC; 3.5% terminal g; 22% terminal FCF margin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051560"/>
            <a:ext cx="2286000" cy="1005840"/>
          </a:xfrm>
          <a:prstGeom prst="roundRect">
            <a:avLst/>
          </a:prstGeom>
          <a:solidFill>
            <a:srgbClr val="E6EE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1124712"/>
            <a:ext cx="213969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Upside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1371600"/>
            <a:ext cx="213969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$110–150+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1764792"/>
            <a:ext cx="2139696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Requires lower WACC, higher growth duration, or AI/B2B upside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051560"/>
            <a:ext cx="2286000" cy="1005840"/>
          </a:xfrm>
          <a:prstGeom prst="roundRect">
            <a:avLst/>
          </a:prstGeom>
          <a:solidFill>
            <a:srgbClr val="E6EE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1124712"/>
            <a:ext cx="213969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Main concern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1371600"/>
            <a:ext cx="213969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1764792"/>
            <a:ext cx="2139696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8.3x NTM EV/sales and ~44x NTM EV/EBITDA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1460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Business quality is not the debate: Shopify is scaled, founder-led, asset-light and deeply embedded in merchant workflows.</a:t>
            </a:r>
          </a:p>
          <a:p>
            <a:pPr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Fundamentals remain strong: Q1 revenue +34%, GMV +35%, FY2025 FCF $2.0B and net cash balance sheet.</a:t>
            </a:r>
          </a:p>
          <a:p>
            <a:pPr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But the current multiple still prices in sustained 20%+ revenue growth and FCF margin expansion.</a:t>
            </a:r>
          </a:p>
          <a:p>
            <a:pPr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IC action: keep active coverage; add only on price weakness or evidence that growth/margins are tracking above base case.</a:t>
            </a:r>
          </a:p>
        </p:txBody>
      </p:sp>
      <p:pic>
        <p:nvPicPr>
          <p:cNvPr id="21" name="Picture 20" descr="shop_valuation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31720"/>
            <a:ext cx="5394960" cy="2971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report.md; valuation_framework.md; model.xlsx DCF!B107/B109; outputs.json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Company snapshot: Shopify is a scaled commerce infrastructure platform, not just SMB store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2011680" cy="960120"/>
          </a:xfrm>
          <a:prstGeom prst="roundRect">
            <a:avLst/>
          </a:prstGeom>
          <a:solidFill>
            <a:srgbClr val="F2F6FC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033272"/>
            <a:ext cx="186537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FY2025 GMV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80160"/>
            <a:ext cx="186537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$378B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1865376" cy="21031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Q1 2026 GMV crossed $100B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960120"/>
            <a:ext cx="2011680" cy="960120"/>
          </a:xfrm>
          <a:prstGeom prst="roundRect">
            <a:avLst/>
          </a:prstGeom>
          <a:solidFill>
            <a:srgbClr val="F2F6FC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033272"/>
            <a:ext cx="186537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FY2025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1280160"/>
            <a:ext cx="186537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$11.6B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1673352"/>
            <a:ext cx="1865376" cy="21031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+30% YoY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960120"/>
            <a:ext cx="2011680" cy="960120"/>
          </a:xfrm>
          <a:prstGeom prst="roundRect">
            <a:avLst/>
          </a:prstGeom>
          <a:solidFill>
            <a:srgbClr val="F2F6FC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1033272"/>
            <a:ext cx="186537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FY2025 FCF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1280160"/>
            <a:ext cx="186537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$2.0B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1673352"/>
            <a:ext cx="1865376" cy="21031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17% margin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960120"/>
            <a:ext cx="2011680" cy="960120"/>
          </a:xfrm>
          <a:prstGeom prst="roundRect">
            <a:avLst/>
          </a:prstGeom>
          <a:solidFill>
            <a:srgbClr val="F2F6FC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1033272"/>
            <a:ext cx="186537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Net cash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1280160"/>
            <a:ext cx="186537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~$5.6B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1673352"/>
            <a:ext cx="1865376" cy="21031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Minimal debt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960120"/>
            <a:ext cx="2011680" cy="960120"/>
          </a:xfrm>
          <a:prstGeom prst="roundRect">
            <a:avLst/>
          </a:prstGeom>
          <a:solidFill>
            <a:srgbClr val="F2F6FC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1033272"/>
            <a:ext cx="186537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Insider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1280160"/>
            <a:ext cx="186537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~6%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1673352"/>
            <a:ext cx="1865376" cy="21031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Founder alignment</a:t>
            </a:r>
          </a:p>
        </p:txBody>
      </p:sp>
      <p:pic>
        <p:nvPicPr>
          <p:cNvPr id="24" name="Picture 23" descr="shop_kp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5257800" cy="3383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3640" y="23317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Two revenue engines: high-margin Subscription Solutions plus GMV-linked Merchant Solutions.</a:t>
            </a:r>
          </a:p>
          <a:p>
            <a:pPr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Merchant Solutions is now ~76% of revenue and is the key monetization flywheel through Payments, Shop Pay, Capital, Shipping, Tax, Markets and POS.</a:t>
            </a:r>
          </a:p>
          <a:p>
            <a:pPr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Core strategic pivot: from online storefront software to operating system for independent commerce across online, offline, B2B, international and AI channels.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Koyfin extraction summary; report.md; thesis_tracker.md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Business model: subscription locks in the merchant; Merchant Solutions monetizes merchant success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828800" cy="777240"/>
          </a:xfrm>
          <a:prstGeom prst="roundRect">
            <a:avLst/>
          </a:prstGeom>
          <a:solidFill>
            <a:srgbClr val="E6EE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35607"/>
            <a:ext cx="169164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More merchants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325880"/>
            <a:ext cx="1828800" cy="777240"/>
          </a:xfrm>
          <a:prstGeom prst="roundRect">
            <a:avLst/>
          </a:prstGeom>
          <a:solidFill>
            <a:srgbClr val="E6EE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82112" y="1435607"/>
            <a:ext cx="169164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More surfaces</a:t>
            </a:r>
            <a:br/>
            <a:r>
              <a:rPr sz="1100" b="1">
                <a:solidFill>
                  <a:srgbClr val="1F4E79"/>
                </a:solidFill>
              </a:rPr>
              <a:t>Online / POS / B2B /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325880"/>
            <a:ext cx="1828800" cy="777240"/>
          </a:xfrm>
          <a:prstGeom prst="roundRect">
            <a:avLst/>
          </a:prstGeom>
          <a:solidFill>
            <a:srgbClr val="E6EE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96712" y="1435607"/>
            <a:ext cx="169164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More buyer conversion</a:t>
            </a:r>
            <a:br/>
            <a:r>
              <a:rPr sz="1100" b="1">
                <a:solidFill>
                  <a:srgbClr val="1F4E79"/>
                </a:solidFill>
              </a:rPr>
              <a:t>Shop Pay / 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1828800" cy="777240"/>
          </a:xfrm>
          <a:prstGeom prst="roundRect">
            <a:avLst/>
          </a:prstGeom>
          <a:solidFill>
            <a:srgbClr val="E6EE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435607"/>
            <a:ext cx="169164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More GMV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429000"/>
            <a:ext cx="1828800" cy="777240"/>
          </a:xfrm>
          <a:prstGeom prst="roundRect">
            <a:avLst/>
          </a:prstGeom>
          <a:solidFill>
            <a:srgbClr val="E6EE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9472" y="3538728"/>
            <a:ext cx="1691640" cy="4572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More Merchant</a:t>
            </a:r>
            <a:br/>
            <a:r>
              <a:rPr sz="1100" b="1">
                <a:solidFill>
                  <a:srgbClr val="1F4E79"/>
                </a:solidFill>
              </a:rPr>
              <a:t>Solutions attach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1719072"/>
            <a:ext cx="457200" cy="0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1719072"/>
            <a:ext cx="685800" cy="0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52360" y="1719072"/>
            <a:ext cx="685800" cy="0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760720" y="2103120"/>
            <a:ext cx="3291840" cy="1325880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737360" y="2103120"/>
            <a:ext cx="3108960" cy="1709928"/>
          </a:xfrm>
          <a:prstGeom prst="line">
            <a:avLst/>
          </a:prstGeom>
          <a:ln w="2540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77240" y="4663440"/>
          <a:ext cx="106070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304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 stream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Q1 2026 revenue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Gross margin profile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Strategic role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Subscription Solutions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$750M / ~24% of revenue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~80%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Merchant acquisition, platform control, Plus/enterprise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Merchant Solutions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$2.42B / ~76% of revenue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~39%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GMV-linked monetization and retention flywheel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report.md business model section; web_business_strategy.md; Koyfin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Thesis pillars: five things must stay true for SHOP to compound through the multiple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162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Pillar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Evidence today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KPI / breakpoint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Commerce OS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FY2025 GMV $378B; Q1 GMV $100.7B; broad app ecosystem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GMV growth; breakpoint &lt;15% for 2+ quarters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Merchant Solutions flywheel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Merchant Solutions 76% of revenue; GPV penetration 67%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GPV penetration; breakpoint stalls &lt;67%</a:t>
                      </a:r>
                    </a:p>
                  </a:txBody>
                  <a:tcPr marL="25400" marR="25400" marT="12700" marB="12700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Upmarket / B2B / international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Plus ~34% MRR; B2B +80–96%; international +mid-30s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Plus mix, B2B GMV, enterprise wins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FCF durability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FY2025 FCF $2.0B; Q1 FCF margin 15%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FCF margin; breakpoint &lt;12%</a:t>
                      </a:r>
                    </a:p>
                  </a:txBody>
                  <a:tcPr marL="25400" marR="25400" marT="12700" marB="12700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AI option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UCP, Sidekick, Catalog, agentic storefronts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AI-referred GMV / monetization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82828"/>
                </a:solidFill>
              </a:defRPr>
            </a:pPr>
            <a:r>
              <a:t>IC framing: thesis is intact today, but valuation requires the KPIs to remain strong through the next 2–4 quarters.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thesis_tracker.md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Financial model: consensus supports 20%+ growth through FY2028; DCF assumes gradual fade and FCF margin expansion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op_revenue_fcf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6492240" cy="36576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960120"/>
          <a:ext cx="43891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44805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FY2025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FY2028E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FY2035E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$11.6B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$22.9B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$49.9B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marL="25400" marR="25400" marT="12700" marB="12700"/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FCF margin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17.4%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18.5%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22.0%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FCF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$2.0B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$4.2B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$11.0B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60920" y="3611880"/>
            <a:ext cx="4160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82828"/>
                </a:solidFill>
              </a:defRPr>
            </a:pPr>
            <a:r>
              <a:t>Base case uses Koyfin consensus for FY2026–FY2028.</a:t>
            </a:r>
          </a:p>
          <a:p>
            <a:pPr>
              <a:spcAft>
                <a:spcPts val="500"/>
              </a:spcAft>
              <a:defRPr sz="1100">
                <a:solidFill>
                  <a:srgbClr val="282828"/>
                </a:solidFill>
              </a:defRPr>
            </a:pPr>
            <a:r>
              <a:t>Long-run value depends on whether Shopify can keep growth elevated while expanding FCF margin despite Merchant Solutions mix pressure.</a:t>
            </a:r>
          </a:p>
          <a:p>
            <a:pPr>
              <a:spcAft>
                <a:spcPts val="500"/>
              </a:spcAft>
              <a:defRPr sz="1100">
                <a:solidFill>
                  <a:srgbClr val="282828"/>
                </a:solidFill>
              </a:defRPr>
            </a:pPr>
            <a:r>
              <a:t>SBC remains an economic cost; buyback helps but does not eliminate dilution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model.xlsx DCF tab; valuation_framework.md; report.md 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Valuation: model base is below current price; upside requires either duration, margin or discount-rate upside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914400"/>
          <a:ext cx="5394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DCF bridge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PV explicit FCF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$39.7B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PV terminal value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$80.0B</a:t>
                      </a:r>
                    </a:p>
                  </a:txBody>
                  <a:tcPr marL="25400" marR="25400" marT="12700" marB="12700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Enterprise value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$119.6B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+ Net cash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$5.6B</a:t>
                      </a:r>
                    </a:p>
                  </a:txBody>
                  <a:tcPr marL="25400" marR="25400" marT="12700" marB="12700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Equity value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$125.2B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Implied value / share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828"/>
                          </a:solidFill>
                        </a:defRPr>
                      </a:pPr>
                      <a:r>
                        <a:t>$96.30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  <p:pic>
        <p:nvPicPr>
          <p:cNvPr id="5" name="Picture 4" descr="shop_wacc_g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868680"/>
            <a:ext cx="42976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337560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82828"/>
                </a:solidFill>
              </a:defRPr>
            </a:pPr>
            <a:r>
              <a:t>Model base: $96.30/share vs current $103.00, or -6.5% implied downside.</a:t>
            </a:r>
          </a:p>
          <a:p>
            <a:pPr>
              <a:spcAft>
                <a:spcPts val="500"/>
              </a:spcAft>
              <a:defRPr sz="1200">
                <a:solidFill>
                  <a:srgbClr val="282828"/>
                </a:solidFill>
              </a:defRPr>
            </a:pPr>
            <a:r>
              <a:t>Base assumptions: 9.5% WACC, 3.5% terminal growth, 22% terminal FCF margin.</a:t>
            </a:r>
          </a:p>
          <a:p>
            <a:pPr>
              <a:spcAft>
                <a:spcPts val="500"/>
              </a:spcAft>
              <a:defRPr sz="1200">
                <a:solidFill>
                  <a:srgbClr val="282828"/>
                </a:solidFill>
              </a:defRPr>
            </a:pPr>
            <a:r>
              <a:t>Practical decision range: &lt;$85 attractive if fundamentals intact; &gt;$135 requires bull-case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41605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82828"/>
                </a:solidFill>
              </a:defRPr>
            </a:pPr>
            <a:r>
              <a:t>Sensitivity remains large: small changes in WACC / terminal growth can move fair value by &gt;$25/share.</a:t>
            </a:r>
          </a:p>
          <a:p>
            <a:pPr>
              <a:spcAft>
                <a:spcPts val="500"/>
              </a:spcAft>
              <a:defRPr sz="1100">
                <a:solidFill>
                  <a:srgbClr val="282828"/>
                </a:solidFill>
              </a:defRPr>
            </a:pPr>
            <a:r>
              <a:t>This is why IC should focus on evidence of growth duration and margin trajectory, not just one-point DCF.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model.xlsx DCF!B100:B109; outputs.json; valuation_framework.md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Multiple sanity check: SHOP deserves a premium, but the premium is still the key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op_ev_sales_co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715000" cy="3429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96012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Multiple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SHOP current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EV/Sales LTM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10.3x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EV/Sales NTM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8.3x</a:t>
                      </a:r>
                    </a:p>
                  </a:txBody>
                  <a:tcPr marL="25400" marR="25400" marT="12700" marB="12700"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EV/EBITDA NTM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44.4x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P/E NTM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54.5x</a:t>
                      </a:r>
                    </a:p>
                  </a:txBody>
                  <a:tcPr marL="25400" marR="25400" marT="12700" marB="12700"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Street avg target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</a:defRPr>
                      </a:pPr>
                      <a:r>
                        <a:t>$151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0" y="34290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82828"/>
                </a:solidFill>
              </a:defRPr>
            </a:pPr>
            <a:r>
              <a:t>SHOP is not directly comparable to small commerce SaaS: scale, growth, GMV, payments and ecosystem justify a premium.</a:t>
            </a:r>
          </a:p>
          <a:p>
            <a:pPr>
              <a:spcAft>
                <a:spcPts val="500"/>
              </a:spcAft>
              <a:defRPr sz="1100">
                <a:solidFill>
                  <a:srgbClr val="282828"/>
                </a:solidFill>
              </a:defRPr>
            </a:pPr>
            <a:r>
              <a:t>But multiple compression remains the main downside if Q2 guide proves to be the start of a deceleration cycle.</a:t>
            </a:r>
          </a:p>
          <a:p>
            <a:pPr>
              <a:spcAft>
                <a:spcPts val="500"/>
              </a:spcAft>
              <a:defRPr sz="1100">
                <a:solidFill>
                  <a:srgbClr val="282828"/>
                </a:solidFill>
              </a:defRPr>
            </a:pPr>
            <a:r>
              <a:t>Upside to $130–150 requires sustained premium sales multiple or confidence FY2028 EBITDA/FCF is too 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Koyfin multiples; valuation_framework.md comps section; model.xlsx Comps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Competitive position: Shopify wins on merchant alignment, ecosystem breadth and unified commerce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1440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724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Competitor set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Where they compete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SHOP counter-positioning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Amazon / marketplaces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Demand capture and fulfillment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Shopify preserves merchant brand, customer data and channel independence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WooCommerce / Wix / Squarespace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SMB storefront creation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Shopify has deeper commerce stack, payments, apps and scaling path</a:t>
                      </a:r>
                    </a:p>
                  </a:txBody>
                  <a:tcPr marL="25400" marR="25400" marT="12700" marB="12700"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BigCommerce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Mid-market / B2B, no transaction fees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Shopify has larger ecosystem, Shop Pay and broader Merchant Solutions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Adobe / Salesforce / custom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Complex enterprise commerce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Shopify offers faster implementation and lower TCO, but must prove high-end complexity</a:t>
                      </a:r>
                    </a:p>
                  </a:txBody>
                  <a:tcPr marL="25400" marR="25400" marT="12700" marB="12700"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Stripe / PayPal / Adyen / Block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Payments / POS economics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Shopify embeds payments in merchant OS; dependence and take-rate risk remain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6052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82828"/>
                </a:solidFill>
              </a:defRPr>
            </a:pPr>
            <a:r>
              <a:t>Moat source: ecosystem + switching costs + aligned incentives; Shopify does not compete with merchants.</a:t>
            </a:r>
          </a:p>
          <a:p>
            <a:pPr>
              <a:spcAft>
                <a:spcPts val="500"/>
              </a:spcAft>
              <a:defRPr sz="1300">
                <a:solidFill>
                  <a:srgbClr val="282828"/>
                </a:solidFill>
              </a:defRPr>
            </a:pPr>
            <a:r>
              <a:t>Main competitive risk: AI agents and platform walled gardens could shift demand/checkout away from merchant storefronts.</a:t>
            </a:r>
          </a:p>
          <a:p>
            <a:pPr>
              <a:spcAft>
                <a:spcPts val="500"/>
              </a:spcAft>
              <a:defRPr sz="1300">
                <a:solidFill>
                  <a:srgbClr val="282828"/>
                </a:solidFill>
              </a:defRPr>
            </a:pPr>
            <a:r>
              <a:t>Monitoring: enterprise wins, GPV penetration, payment take rate, AI checkout economics.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report.md competitive landscape; web_competition_market.md; thesis_tracker.md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Catalysts: next 6–12 months should clarify whether deceleration fears are overdone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1440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Catalyst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Window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Bull signal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Bear signal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Q2 2026 earnings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Early Aug 2026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Revenue &gt; guide; GMV resilient; FCF mid/high teens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In-line on lower growth; weak Q3 guide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AI / agentic disclosures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2026–2027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AI-referred GMV disclosed; Shopify captures checkout/payment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Traffic without monetization; agents bypass storefront</a:t>
                      </a:r>
                    </a:p>
                  </a:txBody>
                  <a:tcPr marL="25400" marR="25400" marT="12700" marB="12700"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Payments penetration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Quarterly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GPV penetration toward 70–75%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Stalls at 67%; take-rate compression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B2B / enterprise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Quarterly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More global brand wins; B2B remains &gt;50% growth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B2B slows; Adobe/Salesforce defend enterprise</a:t>
                      </a:r>
                    </a:p>
                  </a:txBody>
                  <a:tcPr marL="25400" marR="25400" marT="12700" marB="12700"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Buyback execution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Share count stable/down; disciplined price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Buybacks fail to offset SBC dilution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Sezzle / regulation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H2 2026+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Case contained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Forced interoperability / payments scrutiny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thesis_tracker.md catalysts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Risks and kill criteria: the thesis breaks if growth slows before margins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144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40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Watch item / kill criterion</a:t>
                      </a:r>
                    </a:p>
                  </a:txBody>
                  <a:tcPr marL="25400" marR="25400" marT="12700" marB="12700"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Growth deceleration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Premium multiple requires long growth duration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Revenue &lt;20% or GMV &lt;18% for multiple quarters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Merchant Solutions margin pressure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Lower-margin mix can cap FCF expansion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Gross margin &lt;45% or transaction losses rising</a:t>
                      </a:r>
                    </a:p>
                  </a:txBody>
                  <a:tcPr marL="25400" marR="25400" marT="12700" marB="12700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AI disintermediation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Could bypass storefront / checkout economics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AI traffic grows but Shopify monetization absent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Competition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Pressure across SMB, enterprise, POS and payments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Enterprise wins slow; GPV penetration stalls</a:t>
                      </a:r>
                    </a:p>
                  </a:txBody>
                  <a:tcPr marL="25400" marR="25400" marT="12700" marB="12700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Regulation / antitrust / BNPL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Can impair payments economics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Sezzle case expands or forced payment interoperability</a:t>
                      </a:r>
                    </a:p>
                  </a:txBody>
                  <a:tcPr marL="25400" marR="25400" marT="12700" marB="12700">
                    <a:solidFill>
                      <a:srgbClr val="F8F8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SBC dilution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FCF per share matters more than FCF dollars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828"/>
                          </a:solidFill>
                        </a:defRPr>
                      </a:pPr>
                      <a:r>
                        <a:t>SBC &gt;5% revenue and buyback insufficient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82828"/>
                </a:solidFill>
              </a:defRPr>
            </a:pPr>
            <a:r>
              <a:t>Position sizing should reflect asymmetric valuation risk: downside is mostly multiple compression, not balance sheet stress.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thesis_tracker.md risks table; report.md risks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247120" cy="4114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IC decision: keep on active watch; require either price discipline or KPI confirmation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115671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2743200" cy="1097280"/>
          </a:xfrm>
          <a:prstGeom prst="roundRect">
            <a:avLst/>
          </a:prstGeom>
          <a:solidFill>
            <a:srgbClr val="F2F6FC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124712"/>
            <a:ext cx="259689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371600"/>
            <a:ext cx="259689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Do not initiate full-size position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64792"/>
            <a:ext cx="2596896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Valuation does not provide enough margin of safety at ~$103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051560"/>
            <a:ext cx="2743200" cy="1097280"/>
          </a:xfrm>
          <a:prstGeom prst="roundRect">
            <a:avLst/>
          </a:prstGeom>
          <a:solidFill>
            <a:srgbClr val="F2F6FC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124712"/>
            <a:ext cx="259689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Entry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371600"/>
            <a:ext cx="259689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Add below ~$90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1764792"/>
            <a:ext cx="2596896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Assuming GMV / revenue / FCF KPIs remain intact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051560"/>
            <a:ext cx="2743200" cy="1097280"/>
          </a:xfrm>
          <a:prstGeom prst="roundRect">
            <a:avLst/>
          </a:prstGeom>
          <a:solidFill>
            <a:srgbClr val="F2F6FC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124712"/>
            <a:ext cx="2596896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800" b="1">
                <a:solidFill>
                  <a:srgbClr val="5A5A5A"/>
                </a:solidFill>
              </a:rPr>
              <a:t>Upgrade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1371600"/>
            <a:ext cx="2596896" cy="36576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Buy on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1764792"/>
            <a:ext cx="2596896" cy="3474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555555"/>
                </a:solidFill>
              </a:rPr>
              <a:t>Q2/Q3 show high-20s growth floor + FCF durability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82828"/>
                </a:solidFill>
              </a:defRPr>
            </a:pPr>
            <a:r>
              <a:t>What we like: founder-led, dominant independent commerce OS, GMV-linked monetization, net cash, FCF-positive, multiple growth vectors.</a:t>
            </a:r>
          </a:p>
          <a:p>
            <a:pPr>
              <a:spcAft>
                <a:spcPts val="500"/>
              </a:spcAft>
              <a:defRPr sz="1300">
                <a:solidFill>
                  <a:srgbClr val="282828"/>
                </a:solidFill>
              </a:defRPr>
            </a:pPr>
            <a:r>
              <a:t>What holds us back: base DCF below current price, premium multiple, margin mix pressure, AI outcome uncertain.</a:t>
            </a:r>
          </a:p>
          <a:p>
            <a:pPr>
              <a:spcAft>
                <a:spcPts val="500"/>
              </a:spcAft>
              <a:defRPr sz="1300">
                <a:solidFill>
                  <a:srgbClr val="282828"/>
                </a:solidFill>
              </a:defRPr>
            </a:pPr>
            <a:r>
              <a:t>What to do now: maintain coverage, update after Q2 earnings, track KPI dashboard and valuation bands.</a:t>
            </a:r>
          </a:p>
        </p:txBody>
      </p:sp>
      <p:pic>
        <p:nvPicPr>
          <p:cNvPr id="17" name="Picture 16" descr="shop_valuation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43200"/>
            <a:ext cx="5074920" cy="2560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6510528"/>
            <a:ext cx="111556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r>
              <a:rPr sz="700" b="0">
                <a:solidFill>
                  <a:srgbClr val="6E6E6E"/>
                </a:solidFill>
              </a:rPr>
              <a:t>Source: Investment conclusion from report.md; model.xlsx; thesis_tracker.md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64008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700" b="0">
                <a:solidFill>
                  <a:srgbClr val="6E6E6E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